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Barlow Bold" charset="1" panose="00000800000000000000"/>
      <p:regular r:id="rId13"/>
    </p:embeddedFont>
    <p:embeddedFont>
      <p:font typeface="Barlow" charset="1" panose="00000500000000000000"/>
      <p:regular r:id="rId14"/>
    </p:embeddedFont>
    <p:embeddedFont>
      <p:font typeface="Open Sans Bold" charset="1" panose="020B0806030504020204"/>
      <p:regular r:id="rId15"/>
    </p:embeddedFont>
    <p:embeddedFont>
      <p:font typeface="Open Sans" charset="1" panose="020B06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32284" y="2589804"/>
            <a:ext cx="12023432" cy="349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039"/>
              </a:lnSpc>
            </a:pPr>
            <a:r>
              <a:rPr lang="en-US" sz="13599" b="true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BIG</a:t>
            </a:r>
          </a:p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365B6D"/>
                </a:solidFill>
                <a:latin typeface="Barlow Bold"/>
                <a:ea typeface="Barlow Bold"/>
                <a:cs typeface="Barlow Bold"/>
                <a:sym typeface="Barlow Bold"/>
              </a:rPr>
              <a:t>Breast Inpainter Generator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33245" y="7034530"/>
            <a:ext cx="6326055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80"/>
              </a:lnSpc>
            </a:pPr>
            <a:r>
              <a:rPr lang="en-US" sz="3200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Andrea Baldi, id 1966232</a:t>
            </a:r>
          </a:p>
          <a:p>
            <a:pPr algn="r">
              <a:lnSpc>
                <a:spcPts val="4480"/>
              </a:lnSpc>
            </a:pPr>
            <a:r>
              <a:rPr lang="en-US" sz="3200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Neural Networks</a:t>
            </a:r>
          </a:p>
          <a:p>
            <a:pPr algn="r">
              <a:lnSpc>
                <a:spcPts val="4480"/>
              </a:lnSpc>
            </a:pPr>
            <a:r>
              <a:rPr lang="en-US" sz="3200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01/04/2026</a:t>
            </a:r>
          </a:p>
          <a:p>
            <a:pPr algn="r">
              <a:lnSpc>
                <a:spcPts val="4480"/>
              </a:lnSpc>
            </a:pPr>
            <a:r>
              <a:rPr lang="en-US" sz="3200" spc="12">
                <a:solidFill>
                  <a:srgbClr val="365B6D"/>
                </a:solidFill>
                <a:latin typeface="Barlow"/>
                <a:ea typeface="Barlow"/>
                <a:cs typeface="Barlow"/>
                <a:sym typeface="Barlow"/>
              </a:rPr>
              <a:t>A.Y. 2025/2026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459357" y="2551301"/>
            <a:ext cx="6533703" cy="4016155"/>
          </a:xfrm>
          <a:custGeom>
            <a:avLst/>
            <a:gdLst/>
            <a:ahLst/>
            <a:cxnLst/>
            <a:rect r="r" b="b" t="t" l="l"/>
            <a:pathLst>
              <a:path h="4016155" w="6533703">
                <a:moveTo>
                  <a:pt x="0" y="0"/>
                </a:moveTo>
                <a:lnTo>
                  <a:pt x="6533703" y="0"/>
                </a:lnTo>
                <a:lnTo>
                  <a:pt x="6533703" y="4016156"/>
                </a:lnTo>
                <a:lnTo>
                  <a:pt x="0" y="401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041" r="-1166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59357" y="6567457"/>
            <a:ext cx="6533703" cy="1168242"/>
          </a:xfrm>
          <a:custGeom>
            <a:avLst/>
            <a:gdLst/>
            <a:ahLst/>
            <a:cxnLst/>
            <a:rect r="r" b="b" t="t" l="l"/>
            <a:pathLst>
              <a:path h="1168242" w="6533703">
                <a:moveTo>
                  <a:pt x="0" y="0"/>
                </a:moveTo>
                <a:lnTo>
                  <a:pt x="6533703" y="0"/>
                </a:lnTo>
                <a:lnTo>
                  <a:pt x="6533703" y="1168242"/>
                </a:lnTo>
                <a:lnTo>
                  <a:pt x="0" y="1168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911" t="0" r="-1367" b="-24377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8328"/>
            <a:ext cx="5296309" cy="7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sz="4612" b="true">
                <a:solidFill>
                  <a:srgbClr val="365B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Project’s Aim: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434036"/>
            <a:ext cx="10127392" cy="798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Generating new radiological images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especially showing illnesses, plays a cr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ial 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in me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cal field. Recen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deep learning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dels provide a se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sibl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han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to Doctors and Medical Triage in screening and treatment decisions. 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aim of this project is to provide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 model able to </a:t>
            </a: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generate clinical-consistent and high-resolution Mammograms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that can overcome data bottle-necks.</a:t>
            </a:r>
          </a:p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BIG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is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capable of generating new lesions or transferring existing ones with the possibility of conditioning them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bone reli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a </a:t>
            </a: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Latent Diffusion Model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(LDM) compo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sed of a </a:t>
            </a: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Variational AutoEncoder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(VAE) and a </a:t>
            </a:r>
            <a:r>
              <a:rPr lang="en-US" sz="30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Denoiser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leveraging CLIP for textual conditioning.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75346" y="1738225"/>
            <a:ext cx="8993952" cy="2318539"/>
          </a:xfrm>
          <a:custGeom>
            <a:avLst/>
            <a:gdLst/>
            <a:ahLst/>
            <a:cxnLst/>
            <a:rect r="r" b="b" t="t" l="l"/>
            <a:pathLst>
              <a:path h="2318539" w="8993952">
                <a:moveTo>
                  <a:pt x="0" y="0"/>
                </a:moveTo>
                <a:lnTo>
                  <a:pt x="8993951" y="0"/>
                </a:lnTo>
                <a:lnTo>
                  <a:pt x="8993951" y="2318539"/>
                </a:lnTo>
                <a:lnTo>
                  <a:pt x="0" y="2318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75346" y="5741729"/>
            <a:ext cx="8993952" cy="2803554"/>
          </a:xfrm>
          <a:custGeom>
            <a:avLst/>
            <a:gdLst/>
            <a:ahLst/>
            <a:cxnLst/>
            <a:rect r="r" b="b" t="t" l="l"/>
            <a:pathLst>
              <a:path h="2803554" w="8993952">
                <a:moveTo>
                  <a:pt x="0" y="0"/>
                </a:moveTo>
                <a:lnTo>
                  <a:pt x="8993951" y="0"/>
                </a:lnTo>
                <a:lnTo>
                  <a:pt x="8993951" y="2803554"/>
                </a:lnTo>
                <a:lnTo>
                  <a:pt x="0" y="2803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588328"/>
            <a:ext cx="5296309" cy="7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sz="4612" b="true">
                <a:solidFill>
                  <a:srgbClr val="365B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Related Work: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434036"/>
            <a:ext cx="7654109" cy="856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DiffTumor (Chen et al., 2024):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Point: 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some lesions are local constrained features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framework uses a 3D VQGAN autoencoder for CT compression and trains a Latent Diffusion Model conditioned on tumor masks and healthy tissue context. 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RadiomicsFill-Mammo (Na et al., 2024):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Key Point: 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using existing models with good performances and finetune them.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xtends diffusion-based synthesis to 2D breast imaging by replacing text conditioning with radiomics-driven control. Instead of CLIP embeddings, it employs a Tabular Encoder. 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Built on St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able Diffusion 2, it leverages contralateral breast symmetry as additional conditioning.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24431" y="5732926"/>
            <a:ext cx="10439138" cy="4554074"/>
          </a:xfrm>
          <a:custGeom>
            <a:avLst/>
            <a:gdLst/>
            <a:ahLst/>
            <a:cxnLst/>
            <a:rect r="r" b="b" t="t" l="l"/>
            <a:pathLst>
              <a:path h="4554074" w="10439138">
                <a:moveTo>
                  <a:pt x="0" y="0"/>
                </a:moveTo>
                <a:lnTo>
                  <a:pt x="10439138" y="0"/>
                </a:lnTo>
                <a:lnTo>
                  <a:pt x="10439138" y="4554074"/>
                </a:lnTo>
                <a:lnTo>
                  <a:pt x="0" y="4554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88328"/>
            <a:ext cx="8861670" cy="7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sz="4612" b="true">
                <a:solidFill>
                  <a:srgbClr val="365B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Dataset and Preprocessing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556295"/>
            <a:ext cx="16629597" cy="444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VinDr-Mammo: 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5000 mammograms, 4 images per patient: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(CC/MLO views, Left/Right breast) with boxes and annotations on lesions.</a:t>
            </a:r>
          </a:p>
          <a:p>
            <a:pPr algn="l">
              <a:lnSpc>
                <a:spcPts val="3920"/>
              </a:lnSpc>
            </a:pP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Preprocessing: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Resize to 512×512, grayscale, bounding boxes extracted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Keep lesion type (mass/calcification), BI-RADS score, breast density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Intensity clipping to reduce artifacts; reject 68 corrupted images</a:t>
            </a:r>
          </a:p>
          <a:p>
            <a:pPr algn="l" marL="604523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Train/val/test split without patient overlap (prevent leakage)</a:t>
            </a:r>
          </a:p>
          <a:p>
            <a:pPr algn="l">
              <a:lnSpc>
                <a:spcPts val="392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93609" y="5795235"/>
            <a:ext cx="10100783" cy="4208659"/>
          </a:xfrm>
          <a:custGeom>
            <a:avLst/>
            <a:gdLst/>
            <a:ahLst/>
            <a:cxnLst/>
            <a:rect r="r" b="b" t="t" l="l"/>
            <a:pathLst>
              <a:path h="4208659" w="10100783">
                <a:moveTo>
                  <a:pt x="0" y="0"/>
                </a:moveTo>
                <a:lnTo>
                  <a:pt x="10100782" y="0"/>
                </a:lnTo>
                <a:lnTo>
                  <a:pt x="10100782" y="4208659"/>
                </a:lnTo>
                <a:lnTo>
                  <a:pt x="0" y="4208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88328"/>
            <a:ext cx="9429290" cy="7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sz="4612" b="true">
                <a:solidFill>
                  <a:srgbClr val="365B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VAE Architecture and Training: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89737" y="1520415"/>
            <a:ext cx="17410074" cy="427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 downsampling blocks (Conv2d +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ResBlock) compress 512×512 → latent [B, 4, 64, 64]. Reparameterization trick: z = μ + σ × ε.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Loss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</a:p>
          <a:p>
            <a:pPr algn="l">
              <a:lnSpc>
                <a:spcPts val="3780"/>
              </a:lnSpc>
            </a:pP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L1 reconstruction + KL divergence + perceptual loss + adversarial (2D slice + 3D volume discriminators)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</a:t>
            </a: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aining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300 epochs, Adam (lr=1e-4, batch=32),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cosine annealing. Best checkpoint selec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ted on validation L1.</a:t>
            </a:r>
          </a:p>
          <a:p>
            <a:pPr algn="l">
              <a:lnSpc>
                <a:spcPts val="3780"/>
              </a:lnSpc>
            </a:pPr>
            <a:r>
              <a:rPr lang="en-US" sz="2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Latent Scaling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Post-training, compute σ_latent across training set. Apply scaling factor 1/σ_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7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atent to normalize latent codes for diffusion model.</a:t>
            </a:r>
          </a:p>
          <a:p>
            <a:pPr algn="l">
              <a:lnSpc>
                <a:spcPts val="378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13028" y="5377869"/>
            <a:ext cx="8548281" cy="4662375"/>
          </a:xfrm>
          <a:custGeom>
            <a:avLst/>
            <a:gdLst/>
            <a:ahLst/>
            <a:cxnLst/>
            <a:rect r="r" b="b" t="t" l="l"/>
            <a:pathLst>
              <a:path h="4662375" w="8548281">
                <a:moveTo>
                  <a:pt x="0" y="0"/>
                </a:moveTo>
                <a:lnTo>
                  <a:pt x="8548281" y="0"/>
                </a:lnTo>
                <a:lnTo>
                  <a:pt x="8548281" y="4662375"/>
                </a:lnTo>
                <a:lnTo>
                  <a:pt x="0" y="4662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6313" y="6963261"/>
            <a:ext cx="2259985" cy="1491590"/>
            <a:chOff x="0" y="0"/>
            <a:chExt cx="635000" cy="419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6907" y="0"/>
                  </a:moveTo>
                  <a:lnTo>
                    <a:pt x="568093" y="0"/>
                  </a:lnTo>
                  <a:cubicBezTo>
                    <a:pt x="585838" y="0"/>
                    <a:pt x="602856" y="7049"/>
                    <a:pt x="615403" y="19597"/>
                  </a:cubicBezTo>
                  <a:cubicBezTo>
                    <a:pt x="627951" y="32144"/>
                    <a:pt x="635000" y="49162"/>
                    <a:pt x="635000" y="66907"/>
                  </a:cubicBezTo>
                  <a:lnTo>
                    <a:pt x="635000" y="352193"/>
                  </a:lnTo>
                  <a:cubicBezTo>
                    <a:pt x="635000" y="369938"/>
                    <a:pt x="627951" y="386956"/>
                    <a:pt x="615403" y="399503"/>
                  </a:cubicBezTo>
                  <a:cubicBezTo>
                    <a:pt x="602856" y="412051"/>
                    <a:pt x="585838" y="419100"/>
                    <a:pt x="568093" y="419100"/>
                  </a:cubicBezTo>
                  <a:lnTo>
                    <a:pt x="66907" y="419100"/>
                  </a:lnTo>
                  <a:cubicBezTo>
                    <a:pt x="49162" y="419100"/>
                    <a:pt x="32144" y="412051"/>
                    <a:pt x="19597" y="399503"/>
                  </a:cubicBezTo>
                  <a:cubicBezTo>
                    <a:pt x="7049" y="386956"/>
                    <a:pt x="0" y="369938"/>
                    <a:pt x="0" y="352193"/>
                  </a:cubicBezTo>
                  <a:lnTo>
                    <a:pt x="0" y="66907"/>
                  </a:lnTo>
                  <a:cubicBezTo>
                    <a:pt x="0" y="49162"/>
                    <a:pt x="7049" y="32144"/>
                    <a:pt x="19597" y="19597"/>
                  </a:cubicBezTo>
                  <a:cubicBezTo>
                    <a:pt x="32144" y="7049"/>
                    <a:pt x="49162" y="0"/>
                    <a:pt x="66907" y="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ENCODER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88328"/>
            <a:ext cx="8861670" cy="78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57"/>
              </a:lnSpc>
            </a:pPr>
            <a:r>
              <a:rPr lang="en-US" sz="4612" b="true">
                <a:solidFill>
                  <a:srgbClr val="365B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Denoiser (LoRA Fine-tuning)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5987" y="1318892"/>
            <a:ext cx="16736026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Architecture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Stable Diffusion 2 U-Net + LoRA (rank-16) in attention layers (frozen base weights, trainable LoRA only).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</a:t>
            </a: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put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[noisy latent z_t | mask | masked_z | text embedding]. Mask derived from bbox coordinates.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Training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200 epochs, batch=32, Adam (lr=2e-4). Random timesteps from 1000-step noise schedule.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Loss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MSE(noise_pred, noise_true).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Inference</a:t>
            </a: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DDIM (50 steps), CFG guidance (scale=7.5), ~4 seconds per sample.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Here’s the entire pipeline of BIG:</a:t>
            </a:r>
          </a:p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VAE ENCODER                                                     DENOISER                                              VAE DECODER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370264" y="6963261"/>
            <a:ext cx="2259985" cy="1491590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66907" y="0"/>
                  </a:moveTo>
                  <a:lnTo>
                    <a:pt x="568093" y="0"/>
                  </a:lnTo>
                  <a:cubicBezTo>
                    <a:pt x="585838" y="0"/>
                    <a:pt x="602856" y="7049"/>
                    <a:pt x="615403" y="19597"/>
                  </a:cubicBezTo>
                  <a:cubicBezTo>
                    <a:pt x="627951" y="32144"/>
                    <a:pt x="635000" y="49162"/>
                    <a:pt x="635000" y="66907"/>
                  </a:cubicBezTo>
                  <a:lnTo>
                    <a:pt x="635000" y="352193"/>
                  </a:lnTo>
                  <a:cubicBezTo>
                    <a:pt x="635000" y="369938"/>
                    <a:pt x="627951" y="386956"/>
                    <a:pt x="615403" y="399503"/>
                  </a:cubicBezTo>
                  <a:cubicBezTo>
                    <a:pt x="602856" y="412051"/>
                    <a:pt x="585838" y="419100"/>
                    <a:pt x="568093" y="419100"/>
                  </a:cubicBezTo>
                  <a:lnTo>
                    <a:pt x="66907" y="419100"/>
                  </a:lnTo>
                  <a:cubicBezTo>
                    <a:pt x="49162" y="419100"/>
                    <a:pt x="32144" y="412051"/>
                    <a:pt x="19597" y="399503"/>
                  </a:cubicBezTo>
                  <a:cubicBezTo>
                    <a:pt x="7049" y="386956"/>
                    <a:pt x="0" y="369938"/>
                    <a:pt x="0" y="352193"/>
                  </a:cubicBezTo>
                  <a:lnTo>
                    <a:pt x="0" y="66907"/>
                  </a:lnTo>
                  <a:cubicBezTo>
                    <a:pt x="0" y="49162"/>
                    <a:pt x="7049" y="32144"/>
                    <a:pt x="19597" y="19597"/>
                  </a:cubicBezTo>
                  <a:cubicBezTo>
                    <a:pt x="32144" y="7049"/>
                    <a:pt x="49162" y="0"/>
                    <a:pt x="66907" y="0"/>
                  </a:cubicBezTo>
                  <a:close/>
                </a:path>
              </a:pathLst>
            </a:custGeom>
            <a:solidFill>
              <a:srgbClr val="365B6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635000" cy="466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DENOISER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946129" y="7043158"/>
            <a:ext cx="856961" cy="5239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V="true">
            <a:off x="13361309" y="7109089"/>
            <a:ext cx="1027503" cy="59996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V="true">
            <a:off x="3911276" y="7886438"/>
            <a:ext cx="891815" cy="52063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13361309" y="7709057"/>
            <a:ext cx="1034889" cy="6158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00">
            <a:off x="8540147" y="5893336"/>
            <a:ext cx="3652900" cy="3533681"/>
          </a:xfrm>
          <a:custGeom>
            <a:avLst/>
            <a:gdLst/>
            <a:ahLst/>
            <a:cxnLst/>
            <a:rect r="r" b="b" t="t" l="l"/>
            <a:pathLst>
              <a:path h="3533681" w="3652900">
                <a:moveTo>
                  <a:pt x="0" y="6365"/>
                </a:moveTo>
                <a:lnTo>
                  <a:pt x="3646745" y="0"/>
                </a:lnTo>
                <a:lnTo>
                  <a:pt x="3652901" y="3527317"/>
                </a:lnTo>
                <a:lnTo>
                  <a:pt x="6157" y="3533682"/>
                </a:lnTo>
                <a:lnTo>
                  <a:pt x="0" y="6365"/>
                </a:lnTo>
                <a:close/>
              </a:path>
            </a:pathLst>
          </a:custGeom>
          <a:blipFill>
            <a:blip r:embed="rId2"/>
            <a:stretch>
              <a:fillRect l="-3327" t="-20036" r="-281410" b="-1180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43223" y="2068308"/>
            <a:ext cx="3617875" cy="3592415"/>
          </a:xfrm>
          <a:custGeom>
            <a:avLst/>
            <a:gdLst/>
            <a:ahLst/>
            <a:cxnLst/>
            <a:rect r="r" b="b" t="t" l="l"/>
            <a:pathLst>
              <a:path h="3592415" w="3617875">
                <a:moveTo>
                  <a:pt x="0" y="0"/>
                </a:moveTo>
                <a:lnTo>
                  <a:pt x="3617875" y="0"/>
                </a:lnTo>
                <a:lnTo>
                  <a:pt x="3617875" y="3592415"/>
                </a:lnTo>
                <a:lnTo>
                  <a:pt x="0" y="3592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590" t="-17278" r="-286275" b="-769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867" y="2032832"/>
            <a:ext cx="7195237" cy="3627892"/>
          </a:xfrm>
          <a:custGeom>
            <a:avLst/>
            <a:gdLst/>
            <a:ahLst/>
            <a:cxnLst/>
            <a:rect r="r" b="b" t="t" l="l"/>
            <a:pathLst>
              <a:path h="3627892" w="7195237">
                <a:moveTo>
                  <a:pt x="0" y="0"/>
                </a:moveTo>
                <a:lnTo>
                  <a:pt x="7195237" y="0"/>
                </a:lnTo>
                <a:lnTo>
                  <a:pt x="7195237" y="3627891"/>
                </a:lnTo>
                <a:lnTo>
                  <a:pt x="0" y="36278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25" t="-21714" r="-120584" b="-195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2867" y="5896516"/>
            <a:ext cx="7195237" cy="3553498"/>
          </a:xfrm>
          <a:custGeom>
            <a:avLst/>
            <a:gdLst/>
            <a:ahLst/>
            <a:cxnLst/>
            <a:rect r="r" b="b" t="t" l="l"/>
            <a:pathLst>
              <a:path h="3553498" w="7195237">
                <a:moveTo>
                  <a:pt x="0" y="0"/>
                </a:moveTo>
                <a:lnTo>
                  <a:pt x="7195237" y="0"/>
                </a:lnTo>
                <a:lnTo>
                  <a:pt x="7195237" y="3553498"/>
                </a:lnTo>
                <a:lnTo>
                  <a:pt x="0" y="35534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27" t="-24620" r="-151842" b="-1977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61098" y="2032832"/>
            <a:ext cx="3636213" cy="3627892"/>
          </a:xfrm>
          <a:custGeom>
            <a:avLst/>
            <a:gdLst/>
            <a:ahLst/>
            <a:cxnLst/>
            <a:rect r="r" b="b" t="t" l="l"/>
            <a:pathLst>
              <a:path h="3627892" w="3636213">
                <a:moveTo>
                  <a:pt x="0" y="0"/>
                </a:moveTo>
                <a:lnTo>
                  <a:pt x="3636213" y="0"/>
                </a:lnTo>
                <a:lnTo>
                  <a:pt x="3636213" y="3627891"/>
                </a:lnTo>
                <a:lnTo>
                  <a:pt x="0" y="36278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8869" t="-15803" r="-150778" b="-850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89972" y="5896516"/>
            <a:ext cx="3607338" cy="3527322"/>
          </a:xfrm>
          <a:custGeom>
            <a:avLst/>
            <a:gdLst/>
            <a:ahLst/>
            <a:cxnLst/>
            <a:rect r="r" b="b" t="t" l="l"/>
            <a:pathLst>
              <a:path h="3527322" w="3607338">
                <a:moveTo>
                  <a:pt x="0" y="0"/>
                </a:moveTo>
                <a:lnTo>
                  <a:pt x="3607339" y="0"/>
                </a:lnTo>
                <a:lnTo>
                  <a:pt x="3607339" y="3527322"/>
                </a:lnTo>
                <a:lnTo>
                  <a:pt x="0" y="352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9518" t="-22105" r="-150291" b="-1004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588328"/>
            <a:ext cx="18288000" cy="795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0"/>
              </a:lnSpc>
            </a:pPr>
            <a:r>
              <a:rPr lang="en-US" sz="4700" b="true">
                <a:solidFill>
                  <a:srgbClr val="365B6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Results, Conclusion and Limitations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DAHFXUQH6Cc</dc:identifier>
  <dcterms:modified xsi:type="dcterms:W3CDTF">2011-08-01T06:04:30Z</dcterms:modified>
  <cp:revision>1</cp:revision>
  <dc:title>Copia di Copia di DM for OPG</dc:title>
</cp:coreProperties>
</file>